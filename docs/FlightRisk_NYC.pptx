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delay minutes reached</c:v>
                </c:pt>
              </c:strCache>
            </c:strRef>
          </c:tx>
          <c:dPt>
            <c:idx val="0"/>
            <c:spPr>
              <a:solidFill>
                <a:srgbClr val="5A6472"/>
              </a:solidFill>
            </c:spPr>
          </c:dPt>
          <c:dPt>
            <c:idx val="1"/>
            <c:spPr>
              <a:solidFill>
                <a:srgbClr val="0072B2"/>
              </a:solidFill>
            </c:spPr>
          </c:dPt>
          <c:dPt>
            <c:idx val="2"/>
            <c:spPr>
              <a:solidFill>
                <a:srgbClr val="D55E00"/>
              </a:solidFill>
            </c:spPr>
          </c:dPt>
          <c:cat>
            <c:strRef>
              <c:f>Sheet1!$A$2:$A$4</c:f>
              <c:strCache>
                <c:ptCount val="3"/>
                <c:pt idx="0">
                  <c:v>Picking at random</c:v>
                </c:pt>
                <c:pt idx="1">
                  <c:v>Historical route rate
(no ML)</c:v>
                </c:pt>
                <c:pt idx="2">
                  <c:v>This model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0.09979647320947659</c:v>
                </c:pt>
                <c:pt idx="1">
                  <c:v>0.14638164376867113</c:v>
                </c:pt>
                <c:pt idx="2">
                  <c:v>0.24156400009458726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 b="1">
                  <a:solidFill>
                    <a:srgbClr val="1114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 its late flights, warned about</c:v>
                </c:pt>
              </c:strCache>
            </c:strRef>
          </c:tx>
          <c:dPt>
            <c:idx val="0"/>
            <c:spPr>
              <a:solidFill>
                <a:srgbClr val="D55E00"/>
              </a:solidFill>
            </c:spPr>
          </c:dPt>
          <c:dPt>
            <c:idx val="1"/>
            <c:spPr>
              <a:solidFill>
                <a:srgbClr val="D55E00"/>
              </a:solidFill>
            </c:spPr>
          </c:dPt>
          <c:dPt>
            <c:idx val="2"/>
            <c:spPr>
              <a:solidFill>
                <a:srgbClr val="E69F00"/>
              </a:solidFill>
            </c:spPr>
          </c:dPt>
          <c:dPt>
            <c:idx val="3"/>
            <c:spPr>
              <a:solidFill>
                <a:srgbClr val="0072B2"/>
              </a:solidFill>
            </c:spPr>
          </c:dPt>
          <c:dPt>
            <c:idx val="4"/>
            <c:spPr>
              <a:solidFill>
                <a:srgbClr val="0072B2"/>
              </a:solidFill>
            </c:spPr>
          </c:dPt>
          <c:dPt>
            <c:idx val="5"/>
            <c:spPr>
              <a:solidFill>
                <a:srgbClr val="0072B2"/>
              </a:solidFill>
            </c:spPr>
          </c:dPt>
          <c:cat>
            <c:strRef>
              <c:f>Sheet1!$A$2:$A$7</c:f>
              <c:strCache>
                <c:ptCount val="6"/>
                <c:pt idx="0">
                  <c:v>EV</c:v>
                </c:pt>
                <c:pt idx="1">
                  <c:v>B6</c:v>
                </c:pt>
                <c:pt idx="2">
                  <c:v>WN</c:v>
                </c:pt>
                <c:pt idx="3">
                  <c:v>UA</c:v>
                </c:pt>
                <c:pt idx="4">
                  <c:v>AA</c:v>
                </c:pt>
                <c:pt idx="5">
                  <c:v>VX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0.38176075799447295</c:v>
                </c:pt>
                <c:pt idx="1">
                  <c:v>0.28180354267310787</c:v>
                </c:pt>
                <c:pt idx="2">
                  <c:v>0.13544668587896252</c:v>
                </c:pt>
                <c:pt idx="3">
                  <c:v>0.05661948376353039</c:v>
                </c:pt>
                <c:pt idx="4">
                  <c:v>0.03802281368821293</c:v>
                </c:pt>
                <c:pt idx="5">
                  <c:v>0.01904761904761905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 b="1">
                  <a:solidFill>
                    <a:srgbClr val="1114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74519"/>
            <a:ext cx="8595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FlightRisk NYC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80360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D8E2EC"/>
                </a:solidFill>
                <a:latin typeface="Calibri"/>
              </a:rPr>
              <a:t>Predicting arrival delay </a:t>
            </a:r>
            <a:r>
              <a:rPr sz="2400" b="1">
                <a:solidFill>
                  <a:srgbClr val="E69F00"/>
                </a:solidFill>
                <a:latin typeface="Calibri"/>
              </a:rPr>
              <a:t>before the aircraft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8E2EC"/>
                </a:solidFill>
                <a:latin typeface="Calibri"/>
              </a:rPr>
              <a:t>A pre-departure risk model for JFK, LaGuardia and Newark, scored the way an operations desk would actually use it: as a ranked list on a fixed daily alert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15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9F00"/>
                </a:solidFill>
                <a:latin typeface="Calibri"/>
              </a:rPr>
              <a:t>DATATHON  ·  NYC Flights 2013  ·  336,776 flights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69F00"/>
                </a:solidFill>
                <a:latin typeface="Cambria"/>
              </a:rPr>
              <a:t>0.507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3317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PR-AUC, held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331012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69F00"/>
                </a:solidFill>
                <a:latin typeface="Cambria"/>
              </a:rPr>
              <a:t>24.2%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813048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of all delay minutes reached on a 10% daily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4791456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69F00"/>
                </a:solidFill>
                <a:latin typeface="Cambria"/>
              </a:rPr>
              <a:t>0.936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294376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ROC-AUC, cancellations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418"/>
                </a:solidFill>
                <a:latin typeface="Cambria"/>
              </a:rPr>
              <a:t>Delay is a $33 billion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Two thirds of it lands on passengers, not airlines  ·  FAA / NEXTOR Total Delay Impact Study; Airlines for America, DOT Form 41,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D55E00"/>
                </a:solidFill>
                <a:latin typeface="Cambria"/>
              </a:rPr>
              <a:t>$16.7B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443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borne by passengers each year — lost time, missed connections, unplanned hotels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6596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072B2"/>
                </a:solidFill>
                <a:latin typeface="Cambria"/>
              </a:rPr>
              <a:t>$8.3B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443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borne directly by airlines — crew, fuel, maintenance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65960"/>
            <a:ext cx="3429000" cy="178308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21945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09E73"/>
                </a:solidFill>
                <a:latin typeface="Cambria"/>
              </a:rPr>
              <a:t>$98.41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9443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direct operating cost of a single block minute, from the carriers' own DOT filings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911535" cy="2057400"/>
          </a:xfrm>
          <a:prstGeom prst="roundRect">
            <a:avLst>
              <a:gd name="adj" fmla="val 60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1008857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100" b="1">
                <a:solidFill>
                  <a:srgbClr val="E69F00"/>
                </a:solidFill>
                <a:latin typeface="Cambria"/>
              </a:rPr>
              <a:t>The constraint is attention, not information.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0">
                <a:solidFill>
                  <a:srgbClr val="D8E2EC"/>
                </a:solidFill>
                <a:latin typeface="Calibri"/>
              </a:rPr>
              <a:t>A duty manager at a New York airport oversees several hundred departures a day and can meaningfully act on a few dozen — swap an airframe, hold a connection, pre-position a crew. They do not need a better description of yesterday. They need a ranked list early enough to use. That is why this model is evaluated as a rationing device on a fixed daily budget, not as a classifier.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D8E2EC"/>
                </a:solidFill>
                <a:latin typeface="Cambria"/>
              </a:rPr>
              <a:t>Almost every published model on this dataset cheats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E2EC"/>
                </a:solidFill>
                <a:latin typeface="Calibri"/>
              </a:rPr>
              <a:t>…and we measured the shortcut instead of taking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000" b="1">
                <a:solidFill>
                  <a:srgbClr val="E69F00"/>
                </a:solidFill>
                <a:latin typeface="Courier New"/>
              </a:rPr>
              <a:t>dep_delay</a:t>
            </a:r>
            <a:r>
              <a:rPr sz="1600" b="0">
                <a:solidFill>
                  <a:srgbClr val="D8E2EC"/>
                </a:solidFill>
                <a:latin typeface="Calibri"/>
              </a:rPr>
              <a:t>  — how late the aircraft actually left — sits in the flights table and correlates with arrival delay at ρ ≈ 0.9.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0">
                <a:solidFill>
                  <a:srgbClr val="D8E2EC"/>
                </a:solidFill>
                <a:latin typeface="Calibri"/>
              </a:rPr>
              <a:t>Include it and you get AUC above 0.90. You also get a model that answers a question nobody needs answered: by the time you know dep_delay, the crew is committed, the gate is reassigned, and the passenger with a 55-minute connection is airborne.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965960"/>
            <a:ext cx="4892040" cy="3291840"/>
          </a:xfrm>
          <a:prstGeom prst="roundRect">
            <a:avLst>
              <a:gd name="adj" fmla="val 6000"/>
            </a:avLst>
          </a:prstGeom>
          <a:solidFill>
            <a:srgbClr val="1B3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086600" y="22860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8E2EC"/>
                </a:solidFill>
                <a:latin typeface="Calibri"/>
              </a:rPr>
              <a:t>Same model, same data, same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88036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D8E2EC"/>
                </a:solidFill>
                <a:latin typeface="Calibri"/>
              </a:rPr>
              <a:t>Post-push-back (the usual number)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2752344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200" b="1">
                <a:solidFill>
                  <a:srgbClr val="D8E2EC"/>
                </a:solidFill>
                <a:latin typeface="Cambria"/>
              </a:rPr>
              <a:t>0.846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9319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D8E2EC"/>
                </a:solidFill>
                <a:latin typeface="Calibri"/>
              </a:rPr>
              <a:t>Pre-push-back (deployable)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3803904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200" b="1">
                <a:solidFill>
                  <a:srgbClr val="E69F00"/>
                </a:solidFill>
                <a:latin typeface="Cambria"/>
              </a:rPr>
              <a:t>0.507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4709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PR-AUC on the held-out Nov–Dec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E69F00"/>
                </a:solidFill>
                <a:latin typeface="Calibri"/>
              </a:rPr>
              <a:t>Two thirds of the apparent skill of a “flight delay model” is the observation that the plane left late. The 0.507 is the part that is genuinely forecastable in advance — and it is the whole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418"/>
                </a:solidFill>
                <a:latin typeface="Cambria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Every stage runs from one command and rebuilds bit-identically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9385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mbria"/>
              </a:rPr>
              <a:t>Five raw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31343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336,776 flights joined to hourly weather, the FAA aircraft registry and airport metadata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0358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mbria"/>
              </a:rPr>
              <a:t>67 pre-departure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34107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Leakage-safe by construction; a test suite enforces the boundary, including out-of-fold target encoding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41330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mbria"/>
              </a:rPr>
              <a:t>Temporal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450799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Train Jan–Aug, validate Sep–Oct, hold out Nov–Dec. Never random — a random split lets the model peek forward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2303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mbria"/>
              </a:rPr>
              <a:t>Gradient 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560527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40-draw random search per library over forward-chaining folds, then isotonic recalibration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965960"/>
            <a:ext cx="4663440" cy="420624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269480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11418"/>
                </a:solidFill>
                <a:latin typeface="Cambria"/>
              </a:rPr>
              <a:t>Held out, never touched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8346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PR-AUC (base rate 0.250)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79806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72B2"/>
                </a:solidFill>
                <a:latin typeface="Cambria"/>
              </a:rPr>
              <a:t>0.507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3832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20" y="334670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72B2"/>
                </a:solidFill>
                <a:latin typeface="Cambria"/>
              </a:rPr>
              <a:t>0.716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93192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Precision, riskiest 10% of a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389534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72B2"/>
                </a:solidFill>
                <a:latin typeface="Cambria"/>
              </a:rPr>
              <a:t>47%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448056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Cancellation 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44439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72B2"/>
                </a:solidFill>
                <a:latin typeface="Cambria"/>
              </a:rPr>
              <a:t>0.936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02920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Tier &gt;120 min ROC-AUC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99262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72B2"/>
                </a:solidFill>
                <a:latin typeface="Cambria"/>
              </a:rPr>
              <a:t>0.793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57784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Metric values identical after a full clean rebuild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554126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>
                <a:solidFill>
                  <a:srgbClr val="0072B2"/>
                </a:solidFill>
                <a:latin typeface="Cambria"/>
              </a:rPr>
              <a:t>1,115 / 1,153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418"/>
                </a:solidFill>
                <a:latin typeface="Cambria"/>
              </a:rPr>
              <a:t>It has to beat the alternatives, not beat nothing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Share of all delay minutes reached at a 10% daily alert budget, held-out Nov–Dec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920240"/>
          <a:ext cx="6675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920240"/>
            <a:ext cx="3749039" cy="4114800"/>
          </a:xfrm>
          <a:prstGeom prst="roundRect">
            <a:avLst>
              <a:gd name="adj" fmla="val 60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183879" y="2240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69F00"/>
                </a:solidFill>
                <a:latin typeface="Cambria"/>
              </a:rPr>
              <a:t>Why this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78892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300" b="0">
                <a:solidFill>
                  <a:srgbClr val="D8E2EC"/>
                </a:solidFill>
                <a:latin typeface="Calibri"/>
              </a:rPr>
              <a:t>A desk alerting at random already catches 10% of the delay on a 10% budget. Value has to be stated net of that.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>
                <a:solidFill>
                  <a:srgbClr val="E69F00"/>
                </a:solidFill>
                <a:latin typeface="Calibri"/>
              </a:rPr>
              <a:t>2.4× random   ·   1.65× the no-ML rule</a:t>
            </a:r>
          </a:p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300" b="0">
                <a:solidFill>
                  <a:srgbClr val="D8E2EC"/>
                </a:solidFill>
                <a:latin typeface="Calibri"/>
              </a:rPr>
              <a:t>The budget is spent per day, not pooled — a desk cannot save November's alerts for 22 December. That makes the numbers worse and the exercise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418"/>
                </a:solidFill>
                <a:latin typeface="Cambria"/>
              </a:rPr>
              <a:t>What that is 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Unit costs cited; mitigation effectiveness assumed pessimistically at 10% and swept from 2% to 40%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96112" y="219456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72B2"/>
                </a:solidFill>
                <a:latin typeface="Cambria"/>
              </a:rPr>
              <a:t>$1.81M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94436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airline operating cost avoided over two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659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30752" y="219456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09E73"/>
                </a:solidFill>
                <a:latin typeface="Cambria"/>
              </a:rPr>
              <a:t>27k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94436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passenger-hours returned ($1.27M at the FAA's $47/hour)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659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5392" y="219456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69F00"/>
                </a:solidFill>
                <a:latin typeface="Cambria"/>
              </a:rPr>
              <a:t>331t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94436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of CO₂ not burned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9659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00032" y="219456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55E00"/>
                </a:solidFill>
                <a:latin typeface="Cambria"/>
              </a:rPr>
              <a:t>$1.69M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0032" y="294436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of it attributable to the model rather than the budget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10911535" cy="2011680"/>
          </a:xfrm>
          <a:prstGeom prst="roundRect">
            <a:avLst>
              <a:gd name="adj" fmla="val 6000"/>
            </a:avLst>
          </a:prstGeom>
          <a:solidFill>
            <a:srgbClr val="1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1560" y="4553712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700" b="1">
                <a:solidFill>
                  <a:srgbClr val="E69F00"/>
                </a:solidFill>
                <a:latin typeface="Cambria"/>
              </a:rPr>
              <a:t>Break-even sits at 0.11% effectiveness.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350" b="0">
                <a:solidFill>
                  <a:srgbClr val="D8E2EC"/>
                </a:solidFill>
                <a:latin typeface="Calibri"/>
              </a:rPr>
              <a:t>Handling an alert costs about $6; the delay it targets is worth about $568. Cost is not what gates this system.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53712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700" b="1">
                <a:solidFill>
                  <a:srgbClr val="E69F00"/>
                </a:solidFill>
                <a:latin typeface="Cambria"/>
              </a:rPr>
              <a:t>What we cannot measure, we did not assume.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350" b="0">
                <a:solidFill>
                  <a:srgbClr val="D8E2EC"/>
                </a:solidFill>
                <a:latin typeface="Calibri"/>
              </a:rPr>
              <a:t>How much of a warned delay a desk actually recovers is not published, and a historical dataset has no counterfactual. So it is swept, not asserted — and this is a ceiling on available value, not a measured saving.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418"/>
                </a:solidFill>
                <a:latin typeface="Cambria"/>
              </a:rPr>
              <a:t>Then we asked who the alerts actually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Ranking by probability is a rationing rule, and it has losers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96596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78040" y="1965960"/>
            <a:ext cx="4389120" cy="393192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43800" y="2240280"/>
            <a:ext cx="36576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D55E00"/>
                </a:solidFill>
                <a:latin typeface="Cambria"/>
              </a:rPr>
              <a:t>A 36% coverage gap.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111418"/>
                </a:solidFill>
                <a:latin typeface="Calibri"/>
              </a:rPr>
              <a:t>Southwest runs late more often than JetBlue and receives a fortieth of the alerts, because the model under-predicts it by 17 points. No AUC would ever show that.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50" b="0">
                <a:solidFill>
                  <a:srgbClr val="111418"/>
                </a:solidFill>
                <a:latin typeface="Calibri"/>
              </a:rPr>
              <a:t>Spending the same budget proportionally cuts the gap from 36% to 6% for 11.6% of the delay caught. Across destination-size quartiles the same change gains 1.3% — there, fairness is free.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0072B2"/>
                </a:solidFill>
                <a:latin typeface="Calibri"/>
              </a:rPr>
              <a:t>Recommendation: budget per carrier, not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418"/>
                </a:solidFill>
                <a:latin typeface="Cambria"/>
              </a:rPr>
              <a:t>Why you can believe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Nothing in the prose is taken on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688" y="2286000"/>
            <a:ext cx="384048" cy="384048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86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mbria"/>
              </a:rPr>
              <a:t>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70048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Scramble every post-departure column and the shipped model's predictions are exactly unchanged. The split is temporal, so a leak would have to travel backwards in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601968" y="2286000"/>
            <a:ext cx="384048" cy="384048"/>
          </a:xfrm>
          <a:prstGeom prst="ellipse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286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mbria"/>
              </a:rPr>
              <a:t>Determinism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670048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Delete every artefact, rebuild from the raw CSVs: 1,115 of 1,153 metric values identical, and all 38 that differ are wall-clock timing fields. Booster SHA-256 recorded and checked.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32688" y="4389120"/>
            <a:ext cx="384048" cy="384048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89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mbria"/>
              </a:rPr>
              <a:t>Prose vs artefacts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73168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make verify re-reads every headline number in the report and README from the metrics files and fails on disagreement — including all of the impact and fairness figures.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114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601968" y="4389120"/>
            <a:ext cx="384048" cy="384048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389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mbria"/>
              </a:rPr>
              <a:t>What we got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773168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Calibri"/>
              </a:rPr>
              <a:t>A target encoding we had to throw away, a rotation feature that read from the future on the first attempt, and a severity head aimed at the middle instead of the tail. All three are in the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D8E2EC"/>
                </a:solidFill>
                <a:latin typeface="Cambria"/>
              </a:rPr>
              <a:t>What would come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070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E2EC"/>
                </a:solidFill>
                <a:latin typeface="Calibri"/>
              </a:rPr>
              <a:t>Not a bigger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B3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423160"/>
            <a:ext cx="384048" cy="384048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Real forecast weather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A three-hour horizon costs 0.020 PR-AUC using the crudest possible persistence forecast, so today's numbers are a floor. Cheapest available 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488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B3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749040" y="2423160"/>
            <a:ext cx="384048" cy="384048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99232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A randomised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749039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Alert on a random half of eligible flights and compare. That measures mitigation effectiveness directly and replaces the one assumption we had to sweep.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B3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83680" y="2423160"/>
            <a:ext cx="384048" cy="384048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99232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Beyond three airports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The BTS on-time database has the same schema nationwide, and the inbound-leg blind spot closes as soon as the network is complete rather than NYC-only.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1488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1B3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418320" y="2423160"/>
            <a:ext cx="384048" cy="384048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99232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Three outcomes, not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49039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D8E2EC"/>
                </a:solidFill>
                <a:latin typeface="Calibri"/>
              </a:rPr>
              <a:t>Cancellation is the most predictable outcome in the data at 0.936 ROC-AUC. Production should rank on-time / late / cancelled jointly.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D8E2EC"/>
                </a:solidFill>
                <a:latin typeface="Calibri"/>
              </a:rPr>
              <a:t>Steps 1 and 4 are code we could write with this dataset. Step 2 is the one that would turn a ceiling into a measurement — and it requires an airline.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The honest number is the useful one.</a:t>
            </a:r>
          </a:p>
          <a:p>
            <a:pPr algn="l">
              <a:lnSpc>
                <a:spcPct val="125000"/>
              </a:lnSpc>
              <a:spcAft>
                <a:spcPts val="2200"/>
              </a:spcAft>
            </a:pPr>
            <a:r>
              <a:rPr sz="1800" b="0">
                <a:solidFill>
                  <a:srgbClr val="D8E2EC"/>
                </a:solidFill>
                <a:latin typeface="Calibri"/>
              </a:rPr>
              <a:t>0.507, not 0.846. 47% precision per day, not 64% pooled. A ceiling on value, not a measured saving. Every one of those choices made the result look worse and the work mean something.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6177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69F00"/>
                </a:solidFill>
                <a:latin typeface="Cambria"/>
              </a:rPr>
              <a:t>24.2%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23036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D8E2EC"/>
                </a:solidFill>
                <a:latin typeface="Calibri"/>
              </a:rPr>
              <a:t>of all delay minutes reached on a 10% daily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19" y="46177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69F00"/>
                </a:solidFill>
                <a:latin typeface="Cambria"/>
              </a:rPr>
              <a:t>2.4×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19" y="523036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D8E2EC"/>
                </a:solidFill>
                <a:latin typeface="Calibri"/>
              </a:rPr>
              <a:t>the delay minutes random alerting would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58" y="46177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E69F00"/>
                </a:solidFill>
                <a:latin typeface="Cambria"/>
              </a:rPr>
              <a:t>$18–19M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8" y="523036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D8E2EC"/>
                </a:solidFill>
                <a:latin typeface="Calibri"/>
              </a:rPr>
              <a:t>available value per year across the three NYC airports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8E2EC"/>
                </a:solidFill>
                <a:latin typeface="Courier New"/>
              </a:rPr>
              <a:t>make reproduce  ·  make verify  ·  make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